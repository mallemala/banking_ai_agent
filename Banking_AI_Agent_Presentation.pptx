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2" r:id="rId13"/>
    <p:sldId id="274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990088"/>
            <a:ext cx="12188952" cy="73152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097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9B1"/>
                </a:solidFill>
              </a:rPr>
              <a:t>Banking AI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D0"/>
                </a:solidFill>
              </a:rPr>
              <a:t>Powered by Google Gemini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64592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Product Overview &amp;
Capabilities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10896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Intelligent Financial Analytics · AI-Powered Insights
Budget Management · Forecasting · Chatbot 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297680"/>
            <a:ext cx="1298448" cy="38404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74920" y="432511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Spring Boot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4297680"/>
            <a:ext cx="1298448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3096" y="432511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React 19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5552" y="4297680"/>
            <a:ext cx="1298448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91272" y="432511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53728" y="4297680"/>
            <a:ext cx="1298448" cy="384048"/>
          </a:xfrm>
          <a:prstGeom prst="rect">
            <a:avLst/>
          </a:prstGeom>
          <a:solidFill>
            <a:srgbClr val="1AD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9448" y="432511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Google Gemini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61904" y="4297680"/>
            <a:ext cx="1298448" cy="384048"/>
          </a:xfrm>
          <a:prstGeom prst="rect">
            <a:avLst/>
          </a:prstGeom>
          <a:solidFill>
            <a:srgbClr val="239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07624" y="432511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217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May 2026  · 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6035040" y="3749039"/>
            <a:ext cx="5760720" cy="25603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518464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System configuration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83717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Monitor AI usage &amp; quotas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Application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AI-Powered Personal Finance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03520" cy="50292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B1"/>
                </a:solidFill>
              </a:rPr>
              <a:t>What is Banking AI Agent?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Banking AI Agent is an intelligent financial analytics platform that enables users to upload bank statements and receive deep, AI-driven financial insights.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60731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It leverages Google Gemini AI to automatically: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083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✦  Extract &amp; categorise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283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✦  Generate financial health 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483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✦  Forecast future balances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684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✦  Provide personalised savings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884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  ✦  Answer natural language financial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43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Designed for individuals who want full visibility and control over their finances without switching banks.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280160"/>
            <a:ext cx="5760720" cy="2377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417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B1"/>
                </a:solidFill>
              </a:rPr>
              <a:t>👤  Standard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1482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Upload bank statements (PDF / CSV / XLSX / PNG / JPG)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85085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View AI-generated analytics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41117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Chat with AI Financial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9206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Manage monthly budgets &amp; financial goals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5673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Download reports (PDF · CSV · Excel)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8862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3AED"/>
                </a:solidFill>
              </a:rPr>
              <a:t>🔐  Administrator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▸  Manage users &amp; access roles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8970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View full audit logs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Modern, cloud-ready architecture built for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2402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240280" cy="50292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3441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⚙️ 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Java 21  (LTS)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677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Spring Boot 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151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Spring Security + JWT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6265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Spring Data JPA / Hibernate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10127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Apache PDFBox &amp; POI (file parsing)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59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Maven build system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280160"/>
            <a:ext cx="22402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97480" y="1280160"/>
            <a:ext cx="224028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8920" y="13441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🎨  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9202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2677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Vite (build tooling)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6151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Recharts (data visualisation)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296265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Custom dark UI design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310127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Axios (HTTP client)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1280160"/>
            <a:ext cx="22402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74920" y="1280160"/>
            <a:ext cx="22402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66359" y="13441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🗄️  Data &amp;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19202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PostgreSQL (primary 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2677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Redis (AI insight caching)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26151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HikariCP (connection pool)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296265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Spring Cache abstraction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1280160"/>
            <a:ext cx="22402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52360" y="1280160"/>
            <a:ext cx="2240280" cy="502920"/>
          </a:xfrm>
          <a:prstGeom prst="rect">
            <a:avLst/>
          </a:prstGeom>
          <a:solidFill>
            <a:srgbClr val="1AD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43800" y="13441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🤖  AI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19202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Google Gemini 2.5 Flash/Pro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2677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gemini-2.5-pro-preview-05-06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26151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Auto model fallback on quota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96265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Prompt engineering + JSON parsing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29800" y="1280160"/>
            <a:ext cx="22402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829800" y="1280160"/>
            <a:ext cx="2240280" cy="502920"/>
          </a:xfrm>
          <a:prstGeom prst="rect">
            <a:avLst/>
          </a:prstGeom>
          <a:solidFill>
            <a:srgbClr val="239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21240" y="13441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🐳  Infrastructure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19202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Docker &amp; Docker Compose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2677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PostgreSQL container (port 5433)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26151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Redis container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6265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CI/CD ready 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How the components connect</a:t>
            </a:r>
          </a:p>
        </p:txBody>
      </p:sp>
      <p:pic>
        <p:nvPicPr>
          <p:cNvPr id="5" name="Picture 4" descr="architecture_diagram_1780155986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13232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1188720"/>
            <a:ext cx="4206240" cy="5303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0" y="13258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B1"/>
                </a:solidFill>
              </a:rPr>
              <a:t>Key Design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92024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Stateless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212848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JWT-authenticated REST — every request is self-contained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7004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AI Caching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62656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Gemini responses cached in DB; evicted on data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419856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Model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712463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Auto-switch Gemini models on 429/quota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169663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Deduplication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46227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SHA-256 file hash prevents re-processing identical statements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91947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Separation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21208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Frontend served independently; backend exposes /api/*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66928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◆ 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5961888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Fully containerised — DB, cache, and app in compose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Current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What the application delivers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41731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Statement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PDF · CSV · XLSX · PNG · JPG
Multi-file batch, deduplication via SHA-256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2696" y="128016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92424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1064" y="141731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Transaction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Gemini parses raw text into structured rows:
Date · Merchant · Category · Amount · Balance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28016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41731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Analytics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Opening/closing balance · income/expense totals
Financial health score 0–100 with AI insight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08008" y="128016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17736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6376" y="141731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Chatbot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Natural language Q&amp;A on your own transactions
'How much on Tesco last month?'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154679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" y="32644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7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Transaction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490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Paginated list · search · sort · filter by category
Manual category correction with cache eviction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82696" y="3154679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92424" y="32644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064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Budget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37490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Per-category monthly budgets
Progress tracking with overspend alerts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3154679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32644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Goal Planning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37490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Financial goals with target amounts
Progress tracking &amp; monthly contribution guide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08008" y="3154679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17736" y="32644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6376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Balance Forecasting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374903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AI forecasts next-month balance + confidence score
Insight narrative from Gemini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02920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9768" y="51389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7" y="5166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Savings Recommendations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6235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Personalised tips via Gemini
Subscription detection · spending pattern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82696" y="502920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92424" y="51389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41064" y="5166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Report Exports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19856" y="56235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Download transactions as PDF · Excel · CSV
Formatted with Apache PDFBox &amp; POI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45352" y="502920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55080" y="51389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5166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Security &amp; Audit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512" y="56235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JWT auth · role-based access · full audit log
All actions tracked with timestamp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08008" y="5029200"/>
            <a:ext cx="2816352" cy="1737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17736" y="51389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B1"/>
                </a:solidFill>
              </a:rPr>
              <a:t>👨‍💼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66376" y="5166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Admin Panel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45168" y="56235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D0"/>
                </a:solidFill>
              </a:rPr>
              <a:t>User management · audit trail viewer
System health &amp; AI usage monitoring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At-a-glance financial overview powered by AI</a:t>
            </a:r>
          </a:p>
        </p:txBody>
      </p:sp>
      <p:pic>
        <p:nvPicPr>
          <p:cNvPr id="5" name="Picture 4" descr="dashboard_screenshot_178015593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229600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32520" y="1234440"/>
            <a:ext cx="31546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B1"/>
                </a:solidFill>
              </a:rPr>
              <a:t>Dashboard 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920240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📌 6 KPI summary cards (balance, income, expenses, health score)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496312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📈 Spending by Category pie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072384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📊 Income vs Expenses bar chart (monthly)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648456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🔮 Balance Trend line chart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7968" y="4224528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🏥 AI Financial Health Score 0-100 with Gemini narrative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4800600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⚡ Cached AI insights — sub-second reloads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5376672"/>
            <a:ext cx="2880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🔄 Auto cache-eviction on new uploads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Transaction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Search, sort, filter and categorise every transaction</a:t>
            </a:r>
          </a:p>
        </p:txBody>
      </p:sp>
      <p:pic>
        <p:nvPicPr>
          <p:cNvPr id="5" name="Picture 4" descr="transaction_list_1780155973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229600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32520" y="1234440"/>
            <a:ext cx="31546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B1"/>
                </a:solidFill>
              </a:rPr>
              <a:t>Transaction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92024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🔍 Full-text search across description, merchant &amp;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46888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↕️ Sort by date, amount, merchant or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01752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🏷️ Colour-coded category badges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56616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✏️ Manual category correction with AI cache-evict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7968" y="411480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📄 Pagination (configurable page size)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4663440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📥 Export: PDF · Excel · 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5212079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🔒 User-scoped — each user sees only their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5760719"/>
            <a:ext cx="2880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🐛 Fixed: PostgreSQL lower(bytea) search bug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AI Financial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Ask your finances anything — in plain English</a:t>
            </a:r>
          </a:p>
        </p:txBody>
      </p:sp>
      <p:pic>
        <p:nvPicPr>
          <p:cNvPr id="5" name="Picture 4" descr="chatbot_screenshot_17801559507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229600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32520" y="1234440"/>
            <a:ext cx="31546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B1"/>
                </a:solidFill>
              </a:rPr>
              <a:t>Chatbot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874519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🤖 Powered by Google Gemini 2.5 Flash/Pro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197608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B0BED0"/>
                </a:solidFill>
              </a:rPr>
              <a:t>📋 Full transaction context injected per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66674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B0BED0"/>
                </a:solidFill>
              </a:rPr>
              <a:t>💬 Persistent conversation history in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2964434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B0BED0"/>
                </a:solidFill>
              </a:rPr>
              <a:t>📊 Can compute totals, averages and trends on the 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7968" y="3408172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B0BED0"/>
                </a:solidFill>
              </a:rPr>
              <a:t>🔁 Auto model fallback on API quota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4092448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F5A623"/>
                </a:solidFill>
              </a:rPr>
              <a:t>Sample queries: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45679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'What subscriptions can I cancel?'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5043423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'Show my top 5 spending merchants'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5518911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'How much did I spend on Amazon this month?'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5994399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BED0"/>
                </a:solidFill>
              </a:rPr>
              <a:t>• 'Am I over budget on dining?'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Budget Management &amp; Goal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Stay on track — month by month</a:t>
            </a:r>
          </a:p>
        </p:txBody>
      </p:sp>
      <p:pic>
        <p:nvPicPr>
          <p:cNvPr id="5" name="Picture 4" descr="budget_goals_1780156009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229600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32520" y="1234440"/>
            <a:ext cx="3154680" cy="52120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B1"/>
                </a:solidFill>
              </a:rPr>
              <a:t>Budget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828800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Per-category monthly spend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231136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Real-time progress bars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633472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Warning at 80% utilisation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035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Alert at 100% (overspend)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352958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Goal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986783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Create named financial 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4389120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Set target &amp; current saved amounts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4791456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Visual circular progress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5193792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AI monthly contribution suggestions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559612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▸  Examples: Emergency Fund, Home Deposit, Vacation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Statement Upload &amp;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Intelligent ingestion with deduplication safeguards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Select File(s)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PDF · CSV · XLSX
PNG · 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B1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6324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SHA-256 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Duplicate check
before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B1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Gemini Parse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Extract transactions
with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B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🏷️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Categorise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14 spending
categories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B1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9828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Save to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PostgreSQL
transaction 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B1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1463040"/>
            <a:ext cx="182880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10996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1488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9B1"/>
                </a:solidFill>
              </a:rPr>
              <a:t>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2578608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D0"/>
                </a:solidFill>
              </a:rPr>
              <a:t>Instant analytics
updated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31920"/>
            <a:ext cx="530352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4069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D88A"/>
                </a:solidFill>
              </a:rPr>
              <a:t>🛡️  Deduplication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4251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B0BED0"/>
                </a:solidFill>
              </a:rPr>
              <a:t>▸  SHA-256 hash computed from raw file bytes before any DB write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2752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D0"/>
                </a:solidFill>
              </a:rPr>
              <a:t>▸  If hash matches a SUCCESS record → reject with informative error message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2298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D0"/>
                </a:solidFill>
              </a:rPr>
              <a:t>▸  If hash matches a FAILED record → delete old record, re-process cleanly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63219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B0BED0"/>
                </a:solidFill>
              </a:rPr>
              <a:t>▸  Prevents duplicate transactions from inflating analytics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3931920"/>
            <a:ext cx="585216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0" y="4069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</a:rPr>
              <a:t>🔄  AI Model Fallback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4395470"/>
            <a:ext cx="5394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BED0"/>
                </a:solidFill>
              </a:rPr>
              <a:t>  gemini-2.5-flash  (primary)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394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0" i="0">
                <a:solidFill>
                  <a:srgbClr val="B0BED0"/>
                </a:solidFill>
              </a:defRPr>
            </a:lvl1pPr>
          </a:lstStyle>
          <a:p>
            <a:r>
              <a:rPr lang="en-GB" dirty="0"/>
              <a:t>  gemini-3.5-flash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5253990"/>
            <a:ext cx="5394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B0BED0"/>
                </a:solidFill>
              </a:rPr>
              <a:t>  </a:t>
            </a:r>
            <a:r>
              <a:rPr lang="en-GB" sz="1200" dirty="0">
                <a:solidFill>
                  <a:srgbClr val="B0BED0"/>
                </a:solidFill>
              </a:rPr>
              <a:t>gemini-3.1-pro-preview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5537200"/>
            <a:ext cx="5394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B0BED0"/>
                </a:solidFill>
              </a:rPr>
              <a:t>  </a:t>
            </a:r>
            <a:r>
              <a:rPr lang="en-GB" sz="1200" dirty="0">
                <a:solidFill>
                  <a:srgbClr val="B0BED0"/>
                </a:solidFill>
              </a:rPr>
              <a:t>gemini-2.0-flash</a:t>
            </a:r>
            <a:r>
              <a:rPr sz="1200" b="0" i="0" dirty="0">
                <a:solidFill>
                  <a:srgbClr val="B0BED0"/>
                </a:solidFill>
              </a:rPr>
              <a:t> (last resort)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59867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 dirty="0">
                <a:solidFill>
                  <a:srgbClr val="B0BED0"/>
                </a:solidFill>
              </a:rPr>
              <a:t>Auto-rotates on HTTP 429 / RESOURCE_EXHAUSTED errors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6B7DA7-4274-48E1-913F-F0B7702444E7}"/>
              </a:ext>
            </a:extLst>
          </p:cNvPr>
          <p:cNvSpPr txBox="1"/>
          <p:nvPr/>
        </p:nvSpPr>
        <p:spPr>
          <a:xfrm>
            <a:off x="6263640" y="4697337"/>
            <a:ext cx="5394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BED0"/>
                </a:solidFill>
              </a:rPr>
              <a:t>  </a:t>
            </a:r>
            <a:r>
              <a:rPr lang="en-GB" sz="1200" b="0" i="0" dirty="0">
                <a:solidFill>
                  <a:srgbClr val="B0BED0"/>
                </a:solidFill>
              </a:rPr>
              <a:t>gemini-2.5-pro</a:t>
            </a:r>
            <a:endParaRPr sz="1200" b="0" i="0" dirty="0">
              <a:solidFill>
                <a:srgbClr val="B0BED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Security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Enterprise-grade safeguards built in from day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0817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JWT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Stateless JSON Web Token auth on every API request. Tokens expire and must be refreshed.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28016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40817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4708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STANDARD_USER and ADMIN roles. Admins access user management and audit logs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69748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8072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254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Audit Logging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26440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Every significant action (upload, parse, category change, chatbot query) logged with timestamp and user email.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69748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8072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28254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User Data Isolation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6440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All queries scoped by authenticated user ID. Cross-user data access is rejected with SecurityException.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11480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2245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2428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Input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68172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File type and size validated on upload. SQL injection prevented via JPA parameterised queries.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11480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2245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2428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DB Connection Pooling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68172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HikariCP with configured limits prevents connection exhaustion under load.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53212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6418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♻️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6013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Cache Eviction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9904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AI insight cache automatically cleared when transactions are modified, ensuring fresh results.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532120"/>
            <a:ext cx="5669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56418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59" y="566013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</a:rPr>
              <a:t>Container Isolation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099048"/>
            <a:ext cx="534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D0"/>
                </a:solidFill>
              </a:rPr>
              <a:t>PostgreSQL and Redis run in separate Docker containers with no direct host exposure.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9829800" y="1280160"/>
            <a:ext cx="2249424" cy="5166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9B1"/>
                </a:solidFill>
              </a:rPr>
              <a:t>Delivery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BED0"/>
                </a:solidFill>
              </a:rPr>
              <a:t>Phased approach — value delivered incrementally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249424" cy="5166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249424" cy="6858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Phase 1
✅ 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10312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Statement Upload (PDF/CSV/XLSX/images)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48716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AI Transaction Extraction &amp; Categorisation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871215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Analytics Dashboard + Health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3255263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Income &amp; Spending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63931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JWT Auth + User Registration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1280160"/>
            <a:ext cx="2249424" cy="5166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697480" y="1280160"/>
            <a:ext cx="2249424" cy="6858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07208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Phase 2
✅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210312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AI Chatbot Financial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248716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Transaction Search, Sort &amp; Filter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2871215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Budget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3255263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Goal Planning &amp;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3931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Admin Panel + Audit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62072" y="4023359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Multi-file batch upload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62072" y="4407407"/>
            <a:ext cx="196596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FFFFFF"/>
                </a:solidFill>
              </a:rPr>
              <a:t>• PDF / Excel / CSV Exports</a:t>
            </a:r>
            <a:endParaRPr lang="en-GB" sz="1100" dirty="0">
              <a:solidFill>
                <a:srgbClr val="FFFFFF"/>
              </a:solidFill>
            </a:endParaRPr>
          </a:p>
          <a:p>
            <a:endParaRPr sz="1100" dirty="0">
              <a:solidFill>
                <a:srgbClr val="FFFFFF"/>
              </a:solidFill>
            </a:endParaRPr>
          </a:p>
          <a:p>
            <a:r>
              <a:rPr sz="1100" dirty="0">
                <a:solidFill>
                  <a:srgbClr val="FFFFFF"/>
                </a:solidFill>
              </a:rPr>
              <a:t>• Custom Categories &amp; Bulk</a:t>
            </a:r>
            <a:endParaRPr lang="en-GB" sz="1100" dirty="0">
              <a:solidFill>
                <a:srgbClr val="FFFFFF"/>
              </a:solidFill>
            </a:endParaRPr>
          </a:p>
          <a:p>
            <a:r>
              <a:rPr sz="1100" dirty="0">
                <a:solidFill>
                  <a:srgbClr val="FFFFFF"/>
                </a:solidFill>
              </a:rPr>
              <a:t> Updates</a:t>
            </a:r>
            <a:endParaRPr lang="en-GB" sz="1100" dirty="0">
              <a:solidFill>
                <a:srgbClr val="FFFFFF"/>
              </a:solidFill>
            </a:endParaRPr>
          </a:p>
          <a:p>
            <a:endParaRPr sz="1100" dirty="0">
              <a:solidFill>
                <a:srgbClr val="FFFFFF"/>
              </a:solidFill>
            </a:endParaRPr>
          </a:p>
          <a:p>
            <a:r>
              <a:rPr sz="1100" dirty="0">
                <a:solidFill>
                  <a:srgbClr val="FFFFFF"/>
                </a:solidFill>
              </a:rPr>
              <a:t>• Subscription Detection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1280160"/>
            <a:ext cx="2249424" cy="5166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74920" y="1280160"/>
            <a:ext cx="2249424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84648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Phase 3
🔄 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9512" y="210312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Balance Forecasting (Gemini)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9512" y="248716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Savings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9512" y="3258566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Multi-Statement Comparison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9512" y="2871216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Cash Flow </a:t>
            </a:r>
            <a:r>
              <a:rPr sz="1100" b="0" i="0" dirty="0" err="1">
                <a:solidFill>
                  <a:srgbClr val="FFFFFF"/>
                </a:solidFill>
              </a:rPr>
              <a:t>Visualisations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452360" y="1280160"/>
            <a:ext cx="2249424" cy="5166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52360" y="1280160"/>
            <a:ext cx="2249424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62088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Phase 4
⭕ 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8992" y="2127249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Open Banking API Integration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7752" y="2103120"/>
            <a:ext cx="1965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Multi-User Accounts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71532" y="252145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Real-Time Transaction Sync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1280160"/>
            <a:ext cx="2249424" cy="685800"/>
          </a:xfrm>
          <a:prstGeom prst="rect">
            <a:avLst/>
          </a:prstGeom>
          <a:solidFill>
            <a:srgbClr val="B0B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39528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Phase 5
⭕ FUTURE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906013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Proactive Spend Alerts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61488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0" y="0"/>
            <a:ext cx="5788152" cy="68580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0" y="7315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9B1"/>
                </a:solidFill>
              </a:rPr>
              <a:t>Banking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834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BED0"/>
                </a:solidFill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D0"/>
                </a:solidFill>
              </a:rPr>
              <a:t>Built with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914400" cy="3657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5824728"/>
            <a:ext cx="896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Spring Boot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5806440"/>
            <a:ext cx="9144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5824728"/>
            <a:ext cx="896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React 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864" y="5806440"/>
            <a:ext cx="914400" cy="365760"/>
          </a:xfrm>
          <a:prstGeom prst="rect">
            <a:avLst/>
          </a:prstGeom>
          <a:solidFill>
            <a:srgbClr val="1AD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59152" y="5824728"/>
            <a:ext cx="896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Gemini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D0"/>
                </a:solidFill>
              </a:rPr>
              <a:t>Opportunities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5806440"/>
            <a:ext cx="932688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8" y="58247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Open Banking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2952" y="5806440"/>
            <a:ext cx="932688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21240" y="58247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Mobile Apps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90504" y="5806440"/>
            <a:ext cx="932688" cy="365760"/>
          </a:xfrm>
          <a:prstGeom prst="rect">
            <a:avLst/>
          </a:prstGeom>
          <a:solidFill>
            <a:srgbClr val="1AD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08792" y="58247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AI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1427</Words>
  <Application>Microsoft Office PowerPoint</Application>
  <PresentationFormat>Custom</PresentationFormat>
  <Paragraphs>270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Dinesh Mallemala</cp:lastModifiedBy>
  <cp:revision>10</cp:revision>
  <dcterms:created xsi:type="dcterms:W3CDTF">2013-01-27T09:14:16Z</dcterms:created>
  <dcterms:modified xsi:type="dcterms:W3CDTF">2026-06-03T12:03:35Z</dcterms:modified>
  <cp:category/>
</cp:coreProperties>
</file>