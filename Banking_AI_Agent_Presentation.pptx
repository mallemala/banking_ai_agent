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72" r:id="rId13"/>
    <p:sldId id="274" r:id="rId1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654" y="1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26080"/>
            <a:ext cx="12188952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90088"/>
            <a:ext cx="12188952" cy="7315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109728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 i="0">
                <a:solidFill>
                  <a:srgbClr val="FFFFFF"/>
                </a:solidFill>
              </a:rPr>
              <a:t>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C9B1"/>
                </a:solidFill>
              </a:rPr>
              <a:t>Banking AI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089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BED0"/>
                </a:solidFill>
              </a:rPr>
              <a:t>Powered by Google Gemini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1645920"/>
            <a:ext cx="6583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Product Overview &amp;
Capabilities 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3108960"/>
            <a:ext cx="6583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0BED0"/>
                </a:solidFill>
              </a:rPr>
              <a:t>Intelligent Financial Analytics · AI-Powered Insights
Budget Management · Forecasting · Chatbot Assistant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4297680"/>
            <a:ext cx="1298448" cy="38404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74920" y="4325112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Spring Boot 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37376" y="4297680"/>
            <a:ext cx="1298448" cy="38404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83096" y="4325112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React 19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45552" y="4297680"/>
            <a:ext cx="1298448" cy="38404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91272" y="4325112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PostgreSQL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53728" y="4297680"/>
            <a:ext cx="1298448" cy="384048"/>
          </a:xfrm>
          <a:prstGeom prst="rect">
            <a:avLst/>
          </a:prstGeom>
          <a:solidFill>
            <a:srgbClr val="1AD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99448" y="4325112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Google Gemini AI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661904" y="4297680"/>
            <a:ext cx="1298448" cy="384048"/>
          </a:xfrm>
          <a:prstGeom prst="rect">
            <a:avLst/>
          </a:prstGeom>
          <a:solidFill>
            <a:srgbClr val="239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707624" y="4325112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Docker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62179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0"/>
                </a:solidFill>
              </a:rPr>
              <a:t>May 2026  ·  v1.0  ·  GitHub: https://github.com/mallemala/banking_ai_agent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6035040" y="3749039"/>
            <a:ext cx="5760720" cy="256032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09360" y="518464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FFFFFF"/>
                </a:solidFill>
              </a:rPr>
              <a:t>▸  System configuration management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4837176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FFFFFF"/>
                </a:solidFill>
              </a:rPr>
              <a:t>▸  Monitor AI usage &amp; quotas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C9B1"/>
                </a:solidFill>
              </a:rPr>
              <a:t>Application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0BED0"/>
                </a:solidFill>
              </a:rPr>
              <a:t>AI-Powered Personal Finance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5303520" cy="502920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C9B1"/>
                </a:solidFill>
              </a:rPr>
              <a:t>What is Banking AI Agent?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9202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FFFFFF"/>
                </a:solidFill>
              </a:rPr>
              <a:t>Banking AI Agent is an intelligent financial analytics platform that enables users to upload bank statements and receive deep, AI-driven financial insights.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2402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260731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FFFFFF"/>
                </a:solidFill>
              </a:rPr>
              <a:t>It leverages Google Gemini AI to automatically: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083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✦  Extract &amp; categorise transactions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2283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✦  Generate financial health scores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5483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✦  Forecast future balances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8684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✦  Provide personalised savings recommendations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1884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FFFFFF"/>
                </a:solidFill>
              </a:rPr>
              <a:t>  ✦  Answer natural language financial questions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3434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45262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Designed for individuals who want full visibility and control over their finances without switching banks.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1280160"/>
            <a:ext cx="5760720" cy="23774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7920" y="14173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9B1"/>
                </a:solidFill>
              </a:rPr>
              <a:t>👤  Standard User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1814829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Upload bank statements (PDF / CSV / XLSX / PNG / JPG)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085085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View AI-generated analytics 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341117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FFFFFF"/>
                </a:solidFill>
              </a:rPr>
              <a:t>▸  Chat with AI Financial Assistant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592069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FFFFFF"/>
                </a:solidFill>
              </a:rPr>
              <a:t>▸  Manage monthly budgets &amp; financial goals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2856739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FFFFFF"/>
                </a:solidFill>
              </a:rPr>
              <a:t>▸  Download reports (PDF · CSV · Excel)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38862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C3AED"/>
                </a:solidFill>
              </a:rPr>
              <a:t>🔐  Administrator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414223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FFFFFF"/>
                </a:solidFill>
              </a:rPr>
              <a:t>▸  Manage users &amp; access roles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4489704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View full audit logs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C9B1"/>
                </a:solidFill>
              </a:rP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0BED0"/>
                </a:solidFill>
              </a:rPr>
              <a:t>Modern, cloud-ready architecture built for scale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80160"/>
            <a:ext cx="2240280" cy="521208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280160"/>
            <a:ext cx="2240280" cy="50292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79" y="134416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⚙️  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0239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ED0"/>
                </a:solidFill>
              </a:rPr>
              <a:t>• Java 21  (LTS)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67711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ED0"/>
                </a:solidFill>
              </a:rPr>
              <a:t>• Spring Boot 3.3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15183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ED0"/>
                </a:solidFill>
              </a:rPr>
              <a:t>• Spring Security + JWT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962655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ED0"/>
                </a:solidFill>
              </a:rPr>
              <a:t>• Spring Data JPA / Hibernate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10127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ED0"/>
                </a:solidFill>
              </a:rPr>
              <a:t>• Apache PDFBox &amp; POI (file parsing)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57599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ED0"/>
                </a:solidFill>
              </a:rPr>
              <a:t>• Maven build system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97480" y="1280160"/>
            <a:ext cx="2240280" cy="521208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697480" y="1280160"/>
            <a:ext cx="2240280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88920" y="134416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🎨  Frontend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1920239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ED0"/>
                </a:solidFill>
              </a:rPr>
              <a:t>• React 19 + TypeScript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2267711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ED0"/>
                </a:solidFill>
              </a:rPr>
              <a:t>• Vite (build tooling)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2615183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ED0"/>
                </a:solidFill>
              </a:rPr>
              <a:t>• Recharts (data visualisation)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2962655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ED0"/>
                </a:solidFill>
              </a:rPr>
              <a:t>• Custom dark UI design 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3310127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ED0"/>
                </a:solidFill>
              </a:rPr>
              <a:t>• Axios (HTTP client)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74920" y="1280160"/>
            <a:ext cx="2240280" cy="521208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074920" y="1280160"/>
            <a:ext cx="2240280" cy="502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166359" y="134416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🗄️  Data &amp; Cache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0" y="1920239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ED0"/>
                </a:solidFill>
              </a:rPr>
              <a:t>• PostgreSQL (primary DB)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0" y="2267711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ED0"/>
                </a:solidFill>
              </a:rPr>
              <a:t>• Redis (AI insight caching)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80" y="2615183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ED0"/>
                </a:solidFill>
              </a:rPr>
              <a:t>• HikariCP (connection pool)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80" y="2962655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ED0"/>
                </a:solidFill>
              </a:rPr>
              <a:t>• Spring Cache abstraction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52360" y="1280160"/>
            <a:ext cx="2240280" cy="521208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452360" y="1280160"/>
            <a:ext cx="2240280" cy="502920"/>
          </a:xfrm>
          <a:prstGeom prst="rect">
            <a:avLst/>
          </a:prstGeom>
          <a:solidFill>
            <a:srgbClr val="1AD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543800" y="134416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🤖  AI Layer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0" y="1920239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ED0"/>
                </a:solidFill>
              </a:rPr>
              <a:t>• Google Gemini 2.5 Flash/Pro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0" y="2267711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ED0"/>
                </a:solidFill>
              </a:rPr>
              <a:t>• gemini-2.5-pro-preview-05-06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20" y="2615183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ED0"/>
                </a:solidFill>
              </a:rPr>
              <a:t>• Auto model fallback on quota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9520" y="2962655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ED0"/>
                </a:solidFill>
              </a:rPr>
              <a:t>• Prompt engineering + JSON parsing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829800" y="1280160"/>
            <a:ext cx="2240280" cy="521208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9829800" y="1280160"/>
            <a:ext cx="2240280" cy="502920"/>
          </a:xfrm>
          <a:prstGeom prst="rect">
            <a:avLst/>
          </a:prstGeom>
          <a:solidFill>
            <a:srgbClr val="239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921240" y="134416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🐳  Infrastructure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66960" y="1920239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ED0"/>
                </a:solidFill>
              </a:rPr>
              <a:t>• Docker &amp; Docker Compose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66960" y="2267711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ED0"/>
                </a:solidFill>
              </a:rPr>
              <a:t>• PostgreSQL container (port 5433)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66960" y="2615183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ED0"/>
                </a:solidFill>
              </a:rPr>
              <a:t>• Redis container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66960" y="2962655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ED0"/>
                </a:solidFill>
              </a:rPr>
              <a:t>• CI/CD ready structure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C9B1"/>
                </a:solidFill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0BED0"/>
                </a:solidFill>
              </a:rPr>
              <a:t>How the components connect</a:t>
            </a:r>
          </a:p>
        </p:txBody>
      </p:sp>
      <p:pic>
        <p:nvPicPr>
          <p:cNvPr id="5" name="Picture 4" descr="architecture_diagram_17801559863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7132320" cy="53035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680960" y="1188720"/>
            <a:ext cx="4206240" cy="530352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63840" y="132588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9B1"/>
                </a:solidFill>
              </a:rPr>
              <a:t>Key Design Decisions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1920240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◆ Stateless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2212848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ED0"/>
                </a:solidFill>
              </a:rPr>
              <a:t>JWT-authenticated REST — every request is self-contained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2670048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◆ AI Caching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2962656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ED0"/>
                </a:solidFill>
              </a:rPr>
              <a:t>Gemini responses cached in DB; evicted on data change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3419856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◆ Model Fallback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3712463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ED0"/>
                </a:solidFill>
              </a:rPr>
              <a:t>Auto-switch Gemini models on 429/quota errors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4169663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◆ Deduplication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4462272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ED0"/>
                </a:solidFill>
              </a:rPr>
              <a:t>SHA-256 file hash prevents re-processing identical statements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4919472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◆ Separation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5212080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ED0"/>
                </a:solidFill>
              </a:rPr>
              <a:t>Frontend served independently; backend exposes /api/*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5669280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◆ Docker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60" y="5961888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ED0"/>
                </a:solidFill>
              </a:rPr>
              <a:t>Fully containerised — DB, cache, and app in compose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C9B1"/>
                </a:solidFill>
              </a:rPr>
              <a:t>Current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0BED0"/>
                </a:solidFill>
              </a:rPr>
              <a:t>What the application delivers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80160"/>
            <a:ext cx="2816352" cy="173736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29768" y="138988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C9B1"/>
                </a:solidFill>
              </a:rPr>
              <a:t>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7" y="1417319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Statement Upload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74519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0"/>
                </a:solidFill>
              </a:rPr>
              <a:t>PDF · CSV · XLSX · PNG · JPG
Multi-file batch, deduplication via SHA-256</a:t>
            </a:r>
          </a:p>
        </p:txBody>
      </p:sp>
      <p:sp>
        <p:nvSpPr>
          <p:cNvPr id="9" name="Rectangle 8"/>
          <p:cNvSpPr/>
          <p:nvPr/>
        </p:nvSpPr>
        <p:spPr>
          <a:xfrm>
            <a:off x="3282696" y="1280160"/>
            <a:ext cx="2816352" cy="173736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92424" y="138988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C9B1"/>
                </a:solidFill>
              </a:rPr>
              <a:t>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41064" y="1417319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AI Transaction Extraction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19856" y="1874519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0"/>
                </a:solidFill>
              </a:rPr>
              <a:t>Gemini parses raw text into structured rows:
Date · Merchant · Category · Amount · Balance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45352" y="1280160"/>
            <a:ext cx="2816352" cy="173736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55080" y="138988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C9B1"/>
                </a:solidFill>
              </a:rPr>
              <a:t>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1417319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Analytics 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1874519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0"/>
                </a:solidFill>
              </a:rPr>
              <a:t>Opening/closing balance · income/expense totals
Financial health score 0–100 with AI insight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08008" y="1280160"/>
            <a:ext cx="2816352" cy="173736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17736" y="138988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C9B1"/>
                </a:solidFill>
              </a:rPr>
              <a:t>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66376" y="1417319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AI Chatbot Assistant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45168" y="1874519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0"/>
                </a:solidFill>
              </a:rPr>
              <a:t>Natural language Q&amp;A on your own transactions
'How much on Tesco last month?'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154679"/>
            <a:ext cx="2816352" cy="173736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29768" y="326440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C9B1"/>
                </a:solidFill>
              </a:rPr>
              <a:t>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7" y="3291839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Transaction Management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749039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0"/>
                </a:solidFill>
              </a:rPr>
              <a:t>Paginated list · search · sort · filter by category
Manual category correction with cache eviction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82696" y="3154679"/>
            <a:ext cx="2816352" cy="173736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392424" y="326440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C9B1"/>
                </a:solidFill>
              </a:rPr>
              <a:t>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41064" y="3291839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Budget Management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19856" y="3749039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0"/>
                </a:solidFill>
              </a:rPr>
              <a:t>Per-category monthly budgets
Progress tracking with overspend alerts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45352" y="3154679"/>
            <a:ext cx="2816352" cy="173736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55080" y="326440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C9B1"/>
                </a:solidFill>
              </a:rPr>
              <a:t>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03720" y="3291839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Goal Planning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82512" y="3749039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0"/>
                </a:solidFill>
              </a:rPr>
              <a:t>Financial goals with target amounts
Progress tracking &amp; monthly contribution guide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208008" y="3154679"/>
            <a:ext cx="2816352" cy="173736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317736" y="326440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C9B1"/>
                </a:solidFill>
              </a:rPr>
              <a:t>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66376" y="3291839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Balance Forecasting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45168" y="3749039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0"/>
                </a:solidFill>
              </a:rPr>
              <a:t>AI forecasts next-month balance + confidence score
Insight narrative from Gemini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5029200"/>
            <a:ext cx="2816352" cy="173736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29768" y="513892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C9B1"/>
                </a:solidFill>
              </a:rPr>
              <a:t>💡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8407" y="516636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Savings Recommendations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562356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0"/>
                </a:solidFill>
              </a:rPr>
              <a:t>Personalised tips via Gemini
Subscription detection · spending pattern analysis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82696" y="5029200"/>
            <a:ext cx="2816352" cy="173736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392424" y="513892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C9B1"/>
                </a:solidFill>
              </a:rPr>
              <a:t>📤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941064" y="516636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Report Exports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19856" y="562356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0"/>
                </a:solidFill>
              </a:rPr>
              <a:t>Download transactions as PDF · Excel · CSV
Formatted with Apache PDFBox &amp; POI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45352" y="5029200"/>
            <a:ext cx="2816352" cy="173736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355080" y="513892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C9B1"/>
                </a:solidFill>
              </a:rPr>
              <a:t>🔐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03720" y="516636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Security &amp; Audit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82512" y="562356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0"/>
                </a:solidFill>
              </a:rPr>
              <a:t>JWT auth · role-based access · full audit log
All actions tracked with timestamp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208008" y="5029200"/>
            <a:ext cx="2816352" cy="173736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317736" y="513892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C9B1"/>
                </a:solidFill>
              </a:rPr>
              <a:t>👨‍💼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66376" y="516636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Admin Panel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345168" y="562356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0"/>
                </a:solidFill>
              </a:rPr>
              <a:t>User management · audit trail viewer
System health &amp; AI usage monitoring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C9B1"/>
                </a:solidFill>
              </a:rPr>
              <a:t>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0BED0"/>
                </a:solidFill>
              </a:rPr>
              <a:t>At-a-glance financial overview powered by AI</a:t>
            </a:r>
          </a:p>
        </p:txBody>
      </p:sp>
      <p:pic>
        <p:nvPicPr>
          <p:cNvPr id="5" name="Picture 4" descr="dashboard_screenshot_178015593516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34440"/>
            <a:ext cx="8229600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732520" y="1234440"/>
            <a:ext cx="3154680" cy="521208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15400" y="13716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9B1"/>
                </a:solidFill>
              </a:rPr>
              <a:t>Dashboard Highlights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87968" y="1920240"/>
            <a:ext cx="2880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ED0"/>
                </a:solidFill>
              </a:rPr>
              <a:t>📌 6 KPI summary cards (balance, income, expenses, health score)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7968" y="2496312"/>
            <a:ext cx="2880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ED0"/>
                </a:solidFill>
              </a:rPr>
              <a:t>📈 Spending by Category pie chart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87968" y="3072384"/>
            <a:ext cx="2880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ED0"/>
                </a:solidFill>
              </a:rPr>
              <a:t>📊 Income vs Expenses bar chart (monthly)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87968" y="3648456"/>
            <a:ext cx="2880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ED0"/>
                </a:solidFill>
              </a:rPr>
              <a:t>🔮 Balance Trend line chart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87968" y="4224528"/>
            <a:ext cx="2880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ED0"/>
                </a:solidFill>
              </a:rPr>
              <a:t>🏥 AI Financial Health Score 0-100 with Gemini narrative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87968" y="4800600"/>
            <a:ext cx="2880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ED0"/>
                </a:solidFill>
              </a:rPr>
              <a:t>⚡ Cached AI insights — sub-second reloads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87968" y="5376672"/>
            <a:ext cx="2880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ED0"/>
                </a:solidFill>
              </a:rPr>
              <a:t>🔄 Auto cache-eviction on new uploads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C9B1"/>
                </a:solidFill>
              </a:rPr>
              <a:t>Transaction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0BED0"/>
                </a:solidFill>
              </a:rPr>
              <a:t>Search, sort, filter and categorise every transaction</a:t>
            </a:r>
          </a:p>
        </p:txBody>
      </p:sp>
      <p:pic>
        <p:nvPicPr>
          <p:cNvPr id="5" name="Picture 4" descr="transaction_list_17801559737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34440"/>
            <a:ext cx="8229600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732520" y="1234440"/>
            <a:ext cx="3154680" cy="521208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15400" y="13716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9B1"/>
                </a:solidFill>
              </a:rPr>
              <a:t>Transaction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87968" y="1920240"/>
            <a:ext cx="28803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ED0"/>
                </a:solidFill>
              </a:rPr>
              <a:t>🔍 Full-text search across description, merchant &amp; category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7968" y="2468880"/>
            <a:ext cx="28803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ED0"/>
                </a:solidFill>
              </a:rPr>
              <a:t>↕️ Sort by date, amount, merchant or category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87968" y="3017520"/>
            <a:ext cx="28803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ED0"/>
                </a:solidFill>
              </a:rPr>
              <a:t>🏷️ Colour-coded category badges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87968" y="3566160"/>
            <a:ext cx="28803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ED0"/>
                </a:solidFill>
              </a:rPr>
              <a:t>✏️ Manual category correction with AI cache-evict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87968" y="4114800"/>
            <a:ext cx="28803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ED0"/>
                </a:solidFill>
              </a:rPr>
              <a:t>📄 Pagination (configurable page size)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87968" y="4663440"/>
            <a:ext cx="28803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ED0"/>
                </a:solidFill>
              </a:rPr>
              <a:t>📥 Export: PDF · Excel · CSV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87968" y="5212079"/>
            <a:ext cx="28803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ED0"/>
                </a:solidFill>
              </a:rPr>
              <a:t>🔒 User-scoped — each user sees only their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87968" y="5760719"/>
            <a:ext cx="28803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ED0"/>
                </a:solidFill>
              </a:rPr>
              <a:t>🐛 Fixed: PostgreSQL lower(bytea) search bug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C9B1"/>
                </a:solidFill>
              </a:rPr>
              <a:t>AI Financial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0BED0"/>
                </a:solidFill>
              </a:rPr>
              <a:t>Ask your finances anything — in plain English</a:t>
            </a:r>
          </a:p>
        </p:txBody>
      </p:sp>
      <p:pic>
        <p:nvPicPr>
          <p:cNvPr id="5" name="Picture 4" descr="chatbot_screenshot_178015595076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34440"/>
            <a:ext cx="8229600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732520" y="1234440"/>
            <a:ext cx="3154680" cy="521208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15400" y="13716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9B1"/>
                </a:solidFill>
              </a:rPr>
              <a:t>Chatbot Capabilities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87968" y="1874519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ED0"/>
                </a:solidFill>
              </a:rPr>
              <a:t>🤖 Powered by Google Gemini 2.5 Flash/Pro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7968" y="2197608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 dirty="0">
                <a:solidFill>
                  <a:srgbClr val="B0BED0"/>
                </a:solidFill>
              </a:rPr>
              <a:t>📋 Full transaction context injected per query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87968" y="2666746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 dirty="0">
                <a:solidFill>
                  <a:srgbClr val="B0BED0"/>
                </a:solidFill>
              </a:rPr>
              <a:t>💬 Persistent conversation history in session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87968" y="2964434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 dirty="0">
                <a:solidFill>
                  <a:srgbClr val="B0BED0"/>
                </a:solidFill>
              </a:rPr>
              <a:t>📊 Can compute totals, averages and trends on the fly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87968" y="3408172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 dirty="0">
                <a:solidFill>
                  <a:srgbClr val="B0BED0"/>
                </a:solidFill>
              </a:rPr>
              <a:t>🔁 Auto model fallback on API quota limits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87968" y="4092448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 dirty="0">
                <a:solidFill>
                  <a:srgbClr val="F5A623"/>
                </a:solidFill>
              </a:rPr>
              <a:t>Sample queries: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87968" y="4567936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ED0"/>
                </a:solidFill>
              </a:rPr>
              <a:t>• 'What subscriptions can I cancel?'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87968" y="5043423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ED0"/>
                </a:solidFill>
              </a:rPr>
              <a:t>• 'Show my top 5 spending merchants'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87968" y="5518911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ED0"/>
                </a:solidFill>
              </a:rPr>
              <a:t>• 'How much did I spend on Amazon this month?'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87968" y="5994399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ED0"/>
                </a:solidFill>
              </a:rPr>
              <a:t>• 'Am I over budget on dining?'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C9B1"/>
                </a:solidFill>
              </a:rPr>
              <a:t>Budget Management &amp; Goal Planning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0BED0"/>
                </a:solidFill>
              </a:rPr>
              <a:t>Stay on track — month by month</a:t>
            </a:r>
          </a:p>
        </p:txBody>
      </p:sp>
      <p:pic>
        <p:nvPicPr>
          <p:cNvPr id="5" name="Picture 4" descr="budget_goals_17801560095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34440"/>
            <a:ext cx="8229600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732520" y="1234440"/>
            <a:ext cx="3154680" cy="521208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15400" y="137160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9B1"/>
                </a:solidFill>
              </a:rPr>
              <a:t>Budget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87968" y="1828800"/>
            <a:ext cx="2880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0"/>
                </a:solidFill>
              </a:rPr>
              <a:t>▸  Per-category monthly spend limits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7968" y="2231136"/>
            <a:ext cx="2880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0"/>
                </a:solidFill>
              </a:rPr>
              <a:t>▸  Real-time progress bars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87968" y="2633472"/>
            <a:ext cx="2880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0"/>
                </a:solidFill>
              </a:rPr>
              <a:t>▸  Warning at 80% utilisation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87968" y="3035808"/>
            <a:ext cx="2880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0"/>
                </a:solidFill>
              </a:rPr>
              <a:t>▸  Alert at 100% (overspend)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15400" y="3529584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C3AED"/>
                </a:solidFill>
              </a:rPr>
              <a:t>Goal Planning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87968" y="3986783"/>
            <a:ext cx="2880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0"/>
                </a:solidFill>
              </a:rPr>
              <a:t>▸  Create named financial goals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87968" y="4389120"/>
            <a:ext cx="2880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0"/>
                </a:solidFill>
              </a:rPr>
              <a:t>▸  Set target &amp; current saved amounts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87968" y="4791456"/>
            <a:ext cx="2880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0"/>
                </a:solidFill>
              </a:rPr>
              <a:t>▸  Visual circular progress tracking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87968" y="5193792"/>
            <a:ext cx="2880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0"/>
                </a:solidFill>
              </a:rPr>
              <a:t>▸  AI monthly contribution suggestions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87968" y="5596128"/>
            <a:ext cx="2880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0"/>
                </a:solidFill>
              </a:rPr>
              <a:t>▸  Examples: Emergency Fund, Home Deposit, Vacation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C9B1"/>
                </a:solidFill>
              </a:rPr>
              <a:t>Statement Upload &amp; Parsing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0BED0"/>
                </a:solidFill>
              </a:rPr>
              <a:t>Intelligent ingestion with deduplication safeguards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828800" cy="219456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1572768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9B1"/>
                </a:solidFill>
              </a:rPr>
              <a:t>Select File(s)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78608"/>
            <a:ext cx="1691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BED0"/>
                </a:solidFill>
              </a:rPr>
              <a:t>PDF · CSV · XLSX
PNG · JPG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0280" y="20116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C9B1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68880" y="1463040"/>
            <a:ext cx="1828800" cy="219456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63240" y="1572768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214884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9B1"/>
                </a:solidFill>
              </a:rPr>
              <a:t>SHA-256 Hash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2578608"/>
            <a:ext cx="1691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BED0"/>
                </a:solidFill>
              </a:rPr>
              <a:t>Duplicate check
before processing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20116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C9B1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60" y="1463040"/>
            <a:ext cx="1828800" cy="219456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74920" y="1572768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14884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9B1"/>
                </a:solidFill>
              </a:rPr>
              <a:t>Gemini Parse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578608"/>
            <a:ext cx="1691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BED0"/>
                </a:solidFill>
              </a:rPr>
              <a:t>Extract transactions
with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0116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C9B1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92240" y="1463040"/>
            <a:ext cx="1828800" cy="219456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086600" y="1572768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🏷️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14884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9B1"/>
                </a:solidFill>
              </a:rPr>
              <a:t>Categorise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578608"/>
            <a:ext cx="1691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BED0"/>
                </a:solidFill>
              </a:rPr>
              <a:t>14 spending
categories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20116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C9B1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03920" y="1463040"/>
            <a:ext cx="1828800" cy="219456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098280" y="1572768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214884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9B1"/>
                </a:solidFill>
              </a:rPr>
              <a:t>Save to DB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2578608"/>
            <a:ext cx="1691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BED0"/>
                </a:solidFill>
              </a:rPr>
              <a:t>PostgreSQL
transaction store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87000" y="20116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C9B1"/>
                </a:solidFill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515600" y="1463040"/>
            <a:ext cx="1828800" cy="219456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1109960" y="1572768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7040" y="214884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9B1"/>
                </a:solidFill>
              </a:rPr>
              <a:t>Dashboard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0" y="2578608"/>
            <a:ext cx="1691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BED0"/>
                </a:solidFill>
              </a:rPr>
              <a:t>Instant analytics
updated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3931920"/>
            <a:ext cx="5303520" cy="246888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0080" y="40690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D88A"/>
                </a:solidFill>
              </a:rPr>
              <a:t>🛡️  Deduplication Engine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4425188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 dirty="0">
                <a:solidFill>
                  <a:srgbClr val="B0BED0"/>
                </a:solidFill>
              </a:rPr>
              <a:t>▸  SHA-256 hash computed from raw file bytes before any DB write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4827524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B0BED0"/>
                </a:solidFill>
              </a:rPr>
              <a:t>▸  If hash matches a SUCCESS record → reject with informative error message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522986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B0BED0"/>
                </a:solidFill>
              </a:rPr>
              <a:t>▸  If hash matches a FAILED record → delete old record, re-process cleanly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5632196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 dirty="0">
                <a:solidFill>
                  <a:srgbClr val="B0BED0"/>
                </a:solidFill>
              </a:rPr>
              <a:t>▸  Prevents duplicate transactions from inflating analytics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3931920"/>
            <a:ext cx="5852160" cy="246888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217920" y="40690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A623"/>
                </a:solidFill>
              </a:rPr>
              <a:t>🔄  AI Model Fallback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4395470"/>
            <a:ext cx="53949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B0BED0"/>
                </a:solidFill>
              </a:rPr>
              <a:t>  gemini-2.5-flash  (primary)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4983480"/>
            <a:ext cx="5394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b="0" i="0">
                <a:solidFill>
                  <a:srgbClr val="B0BED0"/>
                </a:solidFill>
              </a:defRPr>
            </a:lvl1pPr>
          </a:lstStyle>
          <a:p>
            <a:r>
              <a:rPr lang="en-GB" dirty="0"/>
              <a:t>  gemini-3.5-flash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5253990"/>
            <a:ext cx="53949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 dirty="0">
                <a:solidFill>
                  <a:srgbClr val="B0BED0"/>
                </a:solidFill>
              </a:rPr>
              <a:t>  </a:t>
            </a:r>
            <a:r>
              <a:rPr lang="en-GB" sz="1200" dirty="0">
                <a:solidFill>
                  <a:srgbClr val="B0BED0"/>
                </a:solidFill>
              </a:rPr>
              <a:t>gemini-3.1-pro-preview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5537200"/>
            <a:ext cx="53949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 dirty="0">
                <a:solidFill>
                  <a:srgbClr val="B0BED0"/>
                </a:solidFill>
              </a:rPr>
              <a:t>  </a:t>
            </a:r>
            <a:r>
              <a:rPr lang="en-GB" sz="1200" dirty="0">
                <a:solidFill>
                  <a:srgbClr val="B0BED0"/>
                </a:solidFill>
              </a:rPr>
              <a:t>gemini-2.0-flash</a:t>
            </a:r>
            <a:r>
              <a:rPr sz="1200" b="0" i="0" dirty="0">
                <a:solidFill>
                  <a:srgbClr val="B0BED0"/>
                </a:solidFill>
              </a:rPr>
              <a:t> (last resort)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598678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 dirty="0">
                <a:solidFill>
                  <a:srgbClr val="B0BED0"/>
                </a:solidFill>
              </a:rPr>
              <a:t>Auto-rotates on HTTP 429 / RESOURCE_EXHAUSTED errors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E6B7DA7-4274-48E1-913F-F0B7702444E7}"/>
              </a:ext>
            </a:extLst>
          </p:cNvPr>
          <p:cNvSpPr txBox="1"/>
          <p:nvPr/>
        </p:nvSpPr>
        <p:spPr>
          <a:xfrm>
            <a:off x="6263640" y="4697337"/>
            <a:ext cx="53949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B0BED0"/>
                </a:solidFill>
              </a:rPr>
              <a:t>  </a:t>
            </a:r>
            <a:r>
              <a:rPr lang="en-GB" sz="1200" b="0" i="0" dirty="0">
                <a:solidFill>
                  <a:srgbClr val="B0BED0"/>
                </a:solidFill>
              </a:rPr>
              <a:t>gemini-2.5-pro</a:t>
            </a:r>
            <a:endParaRPr sz="1200" b="0" i="0" dirty="0">
              <a:solidFill>
                <a:srgbClr val="B0BED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C9B1"/>
                </a:solidFill>
              </a:rPr>
              <a:t>Security &amp; Reliability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0BED0"/>
                </a:solidFill>
              </a:rPr>
              <a:t>Enterprise-grade safeguards built in from day 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80160"/>
            <a:ext cx="5669280" cy="128016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38988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408176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9B1"/>
                </a:solidFill>
              </a:rPr>
              <a:t>JWT Authentication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47088"/>
            <a:ext cx="5349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0"/>
                </a:solidFill>
              </a:rPr>
              <a:t>Stateless JSON Web Token auth on every API request. Tokens expire and must be refreshed.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280160"/>
            <a:ext cx="5669280" cy="128016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38988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59" y="1408176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9B1"/>
                </a:solidFill>
              </a:rPr>
              <a:t>Role-Based Access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847088"/>
            <a:ext cx="5349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0"/>
                </a:solidFill>
              </a:rPr>
              <a:t>STANDARD_USER and ADMIN roles. Admins access user management and audit logs only.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697480"/>
            <a:ext cx="5669280" cy="128016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280720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2825496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9B1"/>
                </a:solidFill>
              </a:rPr>
              <a:t>Audit Logging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264408"/>
            <a:ext cx="5349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0"/>
                </a:solidFill>
              </a:rPr>
              <a:t>Every significant action (upload, parse, category change, chatbot query) logged with timestamp and user email.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2697480"/>
            <a:ext cx="5669280" cy="128016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0" y="280720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59" y="2825496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9B1"/>
                </a:solidFill>
              </a:rPr>
              <a:t>User Data Isolation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264408"/>
            <a:ext cx="5349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0"/>
                </a:solidFill>
              </a:rPr>
              <a:t>All queries scoped by authenticated user ID. Cross-user data access is rejected with SecurityException.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4114800"/>
            <a:ext cx="5669280" cy="128016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422452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🛡️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242816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9B1"/>
                </a:solidFill>
              </a:rPr>
              <a:t>Input Validation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681728"/>
            <a:ext cx="5349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0"/>
                </a:solidFill>
              </a:rPr>
              <a:t>File type and size validated on upload. SQL injection prevented via JPA parameterised queries.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4114800"/>
            <a:ext cx="5669280" cy="128016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0" y="422452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59" y="4242816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9B1"/>
                </a:solidFill>
              </a:rPr>
              <a:t>DB Connection Pooling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4681728"/>
            <a:ext cx="5349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0"/>
                </a:solidFill>
              </a:rPr>
              <a:t>HikariCP with configured limits prevents connection exhaustion under load.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5532120"/>
            <a:ext cx="5669280" cy="128016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564184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♻️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5660136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9B1"/>
                </a:solidFill>
              </a:rPr>
              <a:t>Cache Eviction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099048"/>
            <a:ext cx="5349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0"/>
                </a:solidFill>
              </a:rPr>
              <a:t>AI insight cache automatically cleared when transactions are modified, ensuring fresh results.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5532120"/>
            <a:ext cx="5669280" cy="128016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0" y="564184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🐳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95159" y="5660136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9B1"/>
                </a:solidFill>
              </a:rPr>
              <a:t>Container Isolation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6099048"/>
            <a:ext cx="5349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0"/>
                </a:solidFill>
              </a:rPr>
              <a:t>PostgreSQL and Redis run in separate Docker containers with no direct host exposure.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/>
          <p:cNvSpPr/>
          <p:nvPr/>
        </p:nvSpPr>
        <p:spPr>
          <a:xfrm>
            <a:off x="9829800" y="1280160"/>
            <a:ext cx="2249424" cy="516636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C9B1"/>
                </a:solidFill>
              </a:rPr>
              <a:t>Delivery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0BED0"/>
                </a:solidFill>
              </a:rPr>
              <a:t>Phased approach — value delivered incrementally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80160"/>
            <a:ext cx="2249424" cy="516636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280160"/>
            <a:ext cx="2249424" cy="68580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29768" y="132588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Phase 1
✅ DONE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" y="2103120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Statement Upload (PDF/CSV/XLSX/images)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2487168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AI Transaction Extraction &amp; Categorisation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2871215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Analytics Dashboard + Health 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255263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Income &amp; Spending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3639311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JWT Auth + User Registration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97480" y="1280160"/>
            <a:ext cx="2249424" cy="516636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697480" y="1280160"/>
            <a:ext cx="2249424" cy="68580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807208" y="132588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Phase 2
✅ DONE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62072" y="2103120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AI Chatbot Financial Assistant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62072" y="2487168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Transaction Search, Sort &amp; Filter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62072" y="2871215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Budget Management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62072" y="3255263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Goal Planning &amp; Tracking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62072" y="3639311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Admin Panel + Audit Logs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62072" y="4023359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FFFFFF"/>
                </a:solidFill>
              </a:rPr>
              <a:t>• Multi-file batch upload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62072" y="4407407"/>
            <a:ext cx="196596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dirty="0">
                <a:solidFill>
                  <a:srgbClr val="FFFFFF"/>
                </a:solidFill>
              </a:rPr>
              <a:t>• PDF / Excel / CSV Exports</a:t>
            </a:r>
            <a:endParaRPr lang="en-GB" sz="1100" dirty="0">
              <a:solidFill>
                <a:srgbClr val="FFFFFF"/>
              </a:solidFill>
            </a:endParaRPr>
          </a:p>
          <a:p>
            <a:endParaRPr sz="1100" dirty="0">
              <a:solidFill>
                <a:srgbClr val="FFFFFF"/>
              </a:solidFill>
            </a:endParaRPr>
          </a:p>
          <a:p>
            <a:r>
              <a:rPr sz="1100" dirty="0">
                <a:solidFill>
                  <a:srgbClr val="FFFFFF"/>
                </a:solidFill>
              </a:rPr>
              <a:t>• Custom Categories &amp; Bulk</a:t>
            </a:r>
            <a:endParaRPr lang="en-GB" sz="1100" dirty="0">
              <a:solidFill>
                <a:srgbClr val="FFFFFF"/>
              </a:solidFill>
            </a:endParaRPr>
          </a:p>
          <a:p>
            <a:r>
              <a:rPr sz="1100" dirty="0">
                <a:solidFill>
                  <a:srgbClr val="FFFFFF"/>
                </a:solidFill>
              </a:rPr>
              <a:t> Updates</a:t>
            </a:r>
            <a:endParaRPr lang="en-GB" sz="1100" dirty="0">
              <a:solidFill>
                <a:srgbClr val="FFFFFF"/>
              </a:solidFill>
            </a:endParaRPr>
          </a:p>
          <a:p>
            <a:endParaRPr sz="1100" dirty="0">
              <a:solidFill>
                <a:srgbClr val="FFFFFF"/>
              </a:solidFill>
            </a:endParaRPr>
          </a:p>
          <a:p>
            <a:r>
              <a:rPr sz="1100" dirty="0">
                <a:solidFill>
                  <a:srgbClr val="FFFFFF"/>
                </a:solidFill>
              </a:rPr>
              <a:t>• Subscription Detection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74920" y="1280160"/>
            <a:ext cx="2249424" cy="516636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074920" y="1280160"/>
            <a:ext cx="2249424" cy="6858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184648" y="132588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Phase 3
🔄 NEXT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39512" y="2103120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Balance Forecasting (Gemini)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9512" y="2487168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FFFFFF"/>
                </a:solidFill>
              </a:rPr>
              <a:t>• Savings Recommendations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39512" y="3258566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FFFFFF"/>
                </a:solidFill>
              </a:rPr>
              <a:t>• Multi-Statement Comparison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39512" y="2871216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FFFFFF"/>
                </a:solidFill>
              </a:rPr>
              <a:t>• Cash Flow </a:t>
            </a:r>
            <a:r>
              <a:rPr sz="1100" b="0" i="0" dirty="0" err="1">
                <a:solidFill>
                  <a:srgbClr val="FFFFFF"/>
                </a:solidFill>
              </a:rPr>
              <a:t>Visualisations</a:t>
            </a:r>
            <a:endParaRPr sz="1100" b="0" i="0" dirty="0">
              <a:solidFill>
                <a:srgbClr val="FFFFFF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7452360" y="1280160"/>
            <a:ext cx="2249424" cy="516636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452360" y="1280160"/>
            <a:ext cx="2249424" cy="685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562088" y="132588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Phase 4
⭕ PLANNED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68992" y="2127249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FFFFFF"/>
                </a:solidFill>
              </a:rPr>
              <a:t>• Open Banking API Integration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67752" y="2103120"/>
            <a:ext cx="19659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FFFFFF"/>
                </a:solidFill>
              </a:rPr>
              <a:t>• Multi-User Accounts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71532" y="2521458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FFFFFF"/>
                </a:solidFill>
              </a:rPr>
              <a:t>• Real-Time Transaction Sync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829800" y="1280160"/>
            <a:ext cx="2249424" cy="685800"/>
          </a:xfrm>
          <a:prstGeom prst="rect">
            <a:avLst/>
          </a:prstGeom>
          <a:solidFill>
            <a:srgbClr val="B0B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939528" y="132588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Phase 5
⭕ FUTURE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85248" y="2906013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FFFFFF"/>
                </a:solidFill>
              </a:rPr>
              <a:t>• Proactive Spend Alerts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651760"/>
            <a:ext cx="12188952" cy="54864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761488"/>
            <a:ext cx="12188952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200400" y="0"/>
            <a:ext cx="5788152" cy="685800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0" y="731520"/>
            <a:ext cx="1645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 i="0">
                <a:solidFill>
                  <a:srgbClr val="FFFFFF"/>
                </a:solidFill>
              </a:rPr>
              <a:t>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201168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C9B1"/>
                </a:solidFill>
              </a:rPr>
              <a:t>Banking AI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83464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3611880"/>
            <a:ext cx="57881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 dirty="0">
                <a:solidFill>
                  <a:srgbClr val="B0BED0"/>
                </a:solidFill>
              </a:rPr>
              <a:t>GitHub: https://github.com/mallemala/banking_ai_agent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3035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BED0"/>
                </a:solidFill>
              </a:rPr>
              <a:t>Built with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5806440"/>
            <a:ext cx="914400" cy="36576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4048" y="5824728"/>
            <a:ext cx="896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Spring Boot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53312" y="5806440"/>
            <a:ext cx="914400" cy="3657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371600" y="5824728"/>
            <a:ext cx="896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React 19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40864" y="5806440"/>
            <a:ext cx="914400" cy="365760"/>
          </a:xfrm>
          <a:prstGeom prst="rect">
            <a:avLst/>
          </a:prstGeom>
          <a:solidFill>
            <a:srgbClr val="1AD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359152" y="5824728"/>
            <a:ext cx="896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Gemini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53035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BED0"/>
                </a:solidFill>
              </a:rPr>
              <a:t>Opportunities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15400" y="5806440"/>
            <a:ext cx="932688" cy="3657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933688" y="582472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Open Banking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02952" y="5806440"/>
            <a:ext cx="932688" cy="3657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921240" y="582472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Mobile Apps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890504" y="5806440"/>
            <a:ext cx="932688" cy="365760"/>
          </a:xfrm>
          <a:prstGeom prst="rect">
            <a:avLst/>
          </a:prstGeom>
          <a:solidFill>
            <a:srgbClr val="1AD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908792" y="582472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AI Copilot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1455</Words>
  <Application>Microsoft Office PowerPoint</Application>
  <PresentationFormat>Custom</PresentationFormat>
  <Paragraphs>270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Dinesh Mallemala</cp:lastModifiedBy>
  <cp:revision>11</cp:revision>
  <dcterms:created xsi:type="dcterms:W3CDTF">2013-01-27T09:14:16Z</dcterms:created>
  <dcterms:modified xsi:type="dcterms:W3CDTF">2026-06-03T12:29:48Z</dcterms:modified>
  <cp:category/>
</cp:coreProperties>
</file>